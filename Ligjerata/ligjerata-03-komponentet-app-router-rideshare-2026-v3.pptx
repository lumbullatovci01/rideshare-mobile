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jpg" ContentType="image/jpeg"/>
  <Default Extension="png" ContentType="image/png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Relationship Id="rIdArt" Type="http://schemas.openxmlformats.org/officeDocument/2006/relationships/image" Target="../media/week03-arta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Relationship Id="rIdLink1" Type="http://schemas.openxmlformats.org/officeDocument/2006/relationships/hyperlink" Target="https://arbenl.github.io/lendet/2026-2027/mobile/java-03/demo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week03-logo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ecture illustration"/>
          <p:cNvPicPr/>
          <p:nvPr/>
        </p:nvPicPr>
        <p:blipFill>
          <a:blip r:embed="rIdArt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Editable shape 3"/>
          <p:cNvSpPr txBox="1"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91525"/>
          </a:solidFill>
          <a:ln>
            <a:noFill/>
          </a:ln>
        </p:spPr>
      </p:sp>
      <p:pic>
        <p:nvPicPr>
          <p:cNvPr id="4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594360" y="594360"/>
            <a:ext cx="2103120" cy="416052"/>
          </a:xfrm>
          <a:prstGeom prst="rect">
            <a:avLst/>
          </a:prstGeom>
        </p:spPr>
      </p:pic>
      <p:sp>
        <p:nvSpPr>
          <p:cNvPr id="5" name="Editable shape 5"/>
          <p:cNvSpPr txBox="1"/>
          <p:nvPr/>
        </p:nvSpPr>
        <p:spPr>
          <a:xfrm>
            <a:off x="594360" y="13716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4200" b="1">
                <a:solidFill>
                  <a:srgbClr val="F4F7FF"/>
                </a:solidFill>
                <a:latin typeface="Arial"/>
              </a:rPr>
              <a:t>07:42.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4200" b="1">
                <a:solidFill>
                  <a:srgbClr val="F4F7FF"/>
                </a:solidFill>
                <a:latin typeface="Arial"/>
              </a:rPr>
              <a:t>Arta ka një problem.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94360" y="3474720"/>
            <a:ext cx="52120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F4F7FF"/>
                </a:solidFill>
                <a:latin typeface="Arial"/>
              </a:rPr>
              <a:t>Duhet të shkojë në AAB.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F4F7FF"/>
                </a:solidFill>
                <a:latin typeface="Arial"/>
              </a:rPr>
              <a:t>Ka telefon. Ka pak kohë.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F4F7FF"/>
                </a:solidFill>
                <a:latin typeface="Arial"/>
              </a:rPr>
              <a:t>Nuk e di cilin udhëtim të zgjedhë.</a:t>
            </a:r>
          </a:p>
        </p:txBody>
      </p:sp>
      <p:sp>
        <p:nvSpPr>
          <p:cNvPr id="7" name="Editable shape 7"/>
          <p:cNvSpPr txBox="1"/>
          <p:nvPr/>
        </p:nvSpPr>
        <p:spPr>
          <a:xfrm>
            <a:off x="594360" y="5303520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300" b="0">
                <a:solidFill>
                  <a:srgbClr val="83EFD9"/>
                </a:solidFill>
                <a:latin typeface="Arial"/>
              </a:rPr>
              <a:t>Sot, një skicë bëhet një rrugë që mund ta ndjekë.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0">
                <a:solidFill>
                  <a:srgbClr val="B9C8DB"/>
                </a:solidFill>
                <a:latin typeface="Arial"/>
              </a:rPr>
              <a:t>JAVA 3 · 01.10.2026 · KOMPONENTËT DHE APP ROUTER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PROBLEMI PARA KODIT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Sa mesazhe duhen për një përgjigje?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02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057400"/>
            <a:ext cx="5212080" cy="932688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7" name="Editable shape 7"/>
          <p:cNvSpPr txBox="1"/>
          <p:nvPr/>
        </p:nvSpPr>
        <p:spPr>
          <a:xfrm>
            <a:off x="749808" y="2148840"/>
            <a:ext cx="480974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1">
                <a:solidFill>
                  <a:srgbClr val="83EFD9"/>
                </a:solidFill>
                <a:latin typeface="Arial"/>
              </a:rPr>
              <a:t>Arta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749808" y="2606040"/>
            <a:ext cx="480974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900" b="0">
                <a:solidFill>
                  <a:srgbClr val="F4F7FF"/>
                </a:solidFill>
                <a:latin typeface="Arial"/>
              </a:rPr>
              <a:t>Niset dikush për AAB?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548640" y="3081528"/>
            <a:ext cx="5212080" cy="932688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0" name="Editable shape 10"/>
          <p:cNvSpPr txBox="1"/>
          <p:nvPr/>
        </p:nvSpPr>
        <p:spPr>
          <a:xfrm>
            <a:off x="749808" y="3172968"/>
            <a:ext cx="480974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1">
                <a:solidFill>
                  <a:srgbClr val="83EFD9"/>
                </a:solidFill>
                <a:latin typeface="Arial"/>
              </a:rPr>
              <a:t>Një shofer</a:t>
            </a:r>
          </a:p>
        </p:txBody>
      </p:sp>
      <p:sp>
        <p:nvSpPr>
          <p:cNvPr id="11" name="Editable shape 11"/>
          <p:cNvSpPr txBox="1"/>
          <p:nvPr/>
        </p:nvSpPr>
        <p:spPr>
          <a:xfrm>
            <a:off x="749808" y="3630168"/>
            <a:ext cx="480974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900" b="0">
                <a:solidFill>
                  <a:srgbClr val="F4F7FF"/>
                </a:solidFill>
                <a:latin typeface="Arial"/>
              </a:rPr>
              <a:t>Po, në 08:15.</a:t>
            </a:r>
          </a:p>
        </p:txBody>
      </p:sp>
      <p:sp>
        <p:nvSpPr>
          <p:cNvPr id="12" name="Editable shape 12"/>
          <p:cNvSpPr txBox="1"/>
          <p:nvPr/>
        </p:nvSpPr>
        <p:spPr>
          <a:xfrm>
            <a:off x="548640" y="4105656"/>
            <a:ext cx="5212080" cy="932688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3" name="Editable shape 13"/>
          <p:cNvSpPr txBox="1"/>
          <p:nvPr/>
        </p:nvSpPr>
        <p:spPr>
          <a:xfrm>
            <a:off x="749808" y="4197096"/>
            <a:ext cx="480974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1">
                <a:solidFill>
                  <a:srgbClr val="83EFD9"/>
                </a:solidFill>
                <a:latin typeface="Arial"/>
              </a:rPr>
              <a:t>Arta</a:t>
            </a:r>
          </a:p>
        </p:txBody>
      </p:sp>
      <p:sp>
        <p:nvSpPr>
          <p:cNvPr id="14" name="Editable shape 14"/>
          <p:cNvSpPr txBox="1"/>
          <p:nvPr/>
        </p:nvSpPr>
        <p:spPr>
          <a:xfrm>
            <a:off x="749808" y="4654296"/>
            <a:ext cx="480974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900" b="0">
                <a:solidFill>
                  <a:srgbClr val="F4F7FF"/>
                </a:solidFill>
                <a:latin typeface="Arial"/>
              </a:rPr>
              <a:t>Ku takohemi? A ka ende vend?</a:t>
            </a:r>
          </a:p>
        </p:txBody>
      </p:sp>
      <p:sp>
        <p:nvSpPr>
          <p:cNvPr id="15" name="Editable shape 15"/>
          <p:cNvSpPr txBox="1"/>
          <p:nvPr/>
        </p:nvSpPr>
        <p:spPr>
          <a:xfrm>
            <a:off x="6309360" y="2103120"/>
            <a:ext cx="53035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900" b="1">
                <a:solidFill>
                  <a:srgbClr val="F4F7FF"/>
                </a:solidFill>
                <a:latin typeface="Arial"/>
              </a:rPr>
              <a:t>Informacioni ekziston. Por Arta ende nuk mund të vendosë.</a:t>
            </a:r>
          </a:p>
        </p:txBody>
      </p:sp>
      <p:sp>
        <p:nvSpPr>
          <p:cNvPr id="16" name="Editable shape 16"/>
          <p:cNvSpPr txBox="1"/>
          <p:nvPr/>
        </p:nvSpPr>
        <p:spPr>
          <a:xfrm>
            <a:off x="6309360" y="3657600"/>
            <a:ext cx="53035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Aplikacioni lidh orën, vendtakimin dhe vendet e lira në një rrjedhë të qartë.</a:t>
            </a:r>
          </a:p>
        </p:txBody>
      </p:sp>
      <p:sp>
        <p:nvSpPr>
          <p:cNvPr id="17" name="Editable shape 17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8" name="Editable shape 18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Kush ka pritur ndonjëherë një përgjigje të tillë?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ZGJIDH PARA SE TË KLIKOSH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Arta ka 10 sekonda. Çfarë e ndihmon?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03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103120"/>
            <a:ext cx="5394960" cy="292608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7" name="Editable shape 7"/>
          <p:cNvSpPr txBox="1"/>
          <p:nvPr/>
        </p:nvSpPr>
        <p:spPr>
          <a:xfrm>
            <a:off x="749808" y="2267712"/>
            <a:ext cx="499262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A · Një bisedë e gjatë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749808" y="2971800"/>
            <a:ext cx="4992624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Ora diku më lart. Vendtakimi në mesazh tjetër. Vendet ende të paqarta.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6217920" y="2103120"/>
            <a:ext cx="5394960" cy="292608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0" name="Editable shape 10"/>
          <p:cNvSpPr txBox="1"/>
          <p:nvPr/>
        </p:nvSpPr>
        <p:spPr>
          <a:xfrm>
            <a:off x="6419088" y="2267712"/>
            <a:ext cx="499262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B · Tri karta të qarta</a:t>
            </a:r>
          </a:p>
        </p:txBody>
      </p:sp>
      <p:sp>
        <p:nvSpPr>
          <p:cNvPr id="11" name="Editable shape 11"/>
          <p:cNvSpPr txBox="1"/>
          <p:nvPr/>
        </p:nvSpPr>
        <p:spPr>
          <a:xfrm>
            <a:off x="6419088" y="2971800"/>
            <a:ext cx="4992624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Nga niset? Kur? Sa vende ka? Një veprim: “Shiko detajet”.</a:t>
            </a:r>
          </a:p>
        </p:txBody>
      </p:sp>
      <p:sp>
        <p:nvSpPr>
          <p:cNvPr id="12" name="Editable shape 12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3" name="Editable shape 13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B e ndihmon të krahasojë. Një kartë përmbledh zgjedhjen; detajet vijnë kur i duhen.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NGA IDEJA TE VEPRIMI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Skica na tregoi çfarë. Sot e bëjmë të punojë.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04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103120"/>
            <a:ext cx="5394960" cy="333756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7" name="Editable shape 7"/>
          <p:cNvSpPr txBox="1"/>
          <p:nvPr/>
        </p:nvSpPr>
        <p:spPr>
          <a:xfrm>
            <a:off x="749808" y="2267712"/>
            <a:ext cx="499262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JAVA 2 · SKICA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749808" y="2971800"/>
            <a:ext cx="4992624" cy="2331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300" b="0">
                <a:solidFill>
                  <a:srgbClr val="F4F7FF"/>
                </a:solidFill>
                <a:latin typeface="Arial"/>
              </a:rPr>
              <a:t>Lista → Detajet → Kërkesa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300" b="0">
                <a:solidFill>
                  <a:srgbClr val="F4F7FF"/>
                </a:solidFill>
                <a:latin typeface="Arial"/>
              </a:rPr>
              <a:t>PRD (Product Requirements Document – dokumenti i kërkesave të produktit) përcakton sjelljen.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6217920" y="2103120"/>
            <a:ext cx="5394960" cy="333756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0" name="Editable shape 10"/>
          <p:cNvSpPr txBox="1"/>
          <p:nvPr/>
        </p:nvSpPr>
        <p:spPr>
          <a:xfrm>
            <a:off x="6419088" y="2267712"/>
            <a:ext cx="499262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JAVA 3 · APLIKACIONI</a:t>
            </a:r>
          </a:p>
        </p:txBody>
      </p:sp>
      <p:sp>
        <p:nvSpPr>
          <p:cNvPr id="11" name="Editable shape 11"/>
          <p:cNvSpPr txBox="1"/>
          <p:nvPr/>
        </p:nvSpPr>
        <p:spPr>
          <a:xfrm>
            <a:off x="6419088" y="2971800"/>
            <a:ext cx="4992624" cy="2331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F4F7FF"/>
                </a:solidFill>
                <a:latin typeface="Arial"/>
              </a:rPr>
              <a:t>Një prekje hap udhëtimin e duhur.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F4F7FF"/>
                </a:solidFill>
                <a:latin typeface="Arial"/>
              </a:rPr>
              <a:t>Tri faqe, një model karte dhe përgjigje kur diçka mungon.</a:t>
            </a:r>
          </a:p>
        </p:txBody>
      </p:sp>
      <p:sp>
        <p:nvSpPr>
          <p:cNvPr id="12" name="Editable shape 12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3" name="Editable shape 13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900" b="0">
                <a:solidFill>
                  <a:srgbClr val="F4F7FF"/>
                </a:solidFill>
                <a:latin typeface="Arial"/>
              </a:rPr>
              <a:t>45 minuta: 5 historia · 20 sqarimet · 12 demonstrimi · 8 rikujtim dhe pyetje.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NDËRTOJMË RRUGËN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Tri ekrane. Një zgjedhje që nuk humbet.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05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103120"/>
            <a:ext cx="3474720" cy="338328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7" name="Editable shape 7"/>
          <p:cNvSpPr txBox="1"/>
          <p:nvPr/>
        </p:nvSpPr>
        <p:spPr>
          <a:xfrm>
            <a:off x="749808" y="2267712"/>
            <a:ext cx="307238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1 · Lista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749808" y="2971800"/>
            <a:ext cx="3072384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/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Arta krahason dhe zgjedh kartën 2.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“Cilin udhëtim dua?”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4041648" y="32004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83EFD9"/>
                </a:solidFill>
                <a:latin typeface="Arial"/>
              </a:rPr>
              <a:t>→</a:t>
            </a:r>
          </a:p>
        </p:txBody>
      </p:sp>
      <p:sp>
        <p:nvSpPr>
          <p:cNvPr id="10" name="Editable shape 10"/>
          <p:cNvSpPr txBox="1"/>
          <p:nvPr/>
        </p:nvSpPr>
        <p:spPr>
          <a:xfrm>
            <a:off x="4343400" y="2103120"/>
            <a:ext cx="3474720" cy="338328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1" name="Editable shape 11"/>
          <p:cNvSpPr txBox="1"/>
          <p:nvPr/>
        </p:nvSpPr>
        <p:spPr>
          <a:xfrm>
            <a:off x="4544568" y="2267712"/>
            <a:ext cx="307238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2 · Detajet</a:t>
            </a:r>
          </a:p>
        </p:txBody>
      </p:sp>
      <p:sp>
        <p:nvSpPr>
          <p:cNvPr id="12" name="Editable shape 12"/>
          <p:cNvSpPr txBox="1"/>
          <p:nvPr/>
        </p:nvSpPr>
        <p:spPr>
          <a:xfrm>
            <a:off x="4544568" y="2971800"/>
            <a:ext cx="3072384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/udhetimi/2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Lexon orën, vendtakimin dhe vendet.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“A më përshtatet?”</a:t>
            </a:r>
          </a:p>
        </p:txBody>
      </p:sp>
      <p:sp>
        <p:nvSpPr>
          <p:cNvPr id="13" name="Editable shape 13"/>
          <p:cNvSpPr txBox="1"/>
          <p:nvPr/>
        </p:nvSpPr>
        <p:spPr>
          <a:xfrm>
            <a:off x="7836408" y="32004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83EFD9"/>
                </a:solidFill>
                <a:latin typeface="Arial"/>
              </a:rPr>
              <a:t>→</a:t>
            </a:r>
          </a:p>
        </p:txBody>
      </p:sp>
      <p:sp>
        <p:nvSpPr>
          <p:cNvPr id="14" name="Editable shape 14"/>
          <p:cNvSpPr txBox="1"/>
          <p:nvPr/>
        </p:nvSpPr>
        <p:spPr>
          <a:xfrm>
            <a:off x="8138160" y="2103120"/>
            <a:ext cx="3474720" cy="338328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5" name="Editable shape 15"/>
          <p:cNvSpPr txBox="1"/>
          <p:nvPr/>
        </p:nvSpPr>
        <p:spPr>
          <a:xfrm>
            <a:off x="8339328" y="2267712"/>
            <a:ext cx="307238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3 · Kërkesa</a:t>
            </a:r>
          </a:p>
        </p:txBody>
      </p:sp>
      <p:sp>
        <p:nvSpPr>
          <p:cNvPr id="16" name="Editable shape 16"/>
          <p:cNvSpPr txBox="1"/>
          <p:nvPr/>
        </p:nvSpPr>
        <p:spPr>
          <a:xfrm>
            <a:off x="8339328" y="2971800"/>
            <a:ext cx="3072384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/udhetimi/2/kerkesa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Sheh “Simulim: Në pritje”. Asgjë nuk dërgohet.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“Çfarë ndodh pas klikimit?”</a:t>
            </a:r>
          </a:p>
        </p:txBody>
      </p:sp>
      <p:sp>
        <p:nvSpPr>
          <p:cNvPr id="17" name="Editable shape 17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8" name="Editable shape 18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F4F7FF"/>
                </a:solidFill>
                <a:latin typeface="Arial"/>
              </a:rPr>
              <a:t>ID (identifier – identifikuesi) 2 e mban të njëjtin udhëtim në të tri ekranet.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NDËRTOJMË RRUGËN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Ndrysho një kartë. Përmirëso të tria.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06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011680"/>
            <a:ext cx="5029200" cy="10058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7" name="Editable shape 7"/>
          <p:cNvSpPr txBox="1"/>
          <p:nvPr/>
        </p:nvSpPr>
        <p:spPr>
          <a:xfrm>
            <a:off x="749808" y="2103120"/>
            <a:ext cx="462686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1">
                <a:solidFill>
                  <a:srgbClr val="83EFD9"/>
                </a:solidFill>
                <a:latin typeface="Arial"/>
              </a:rPr>
              <a:t>Prishtinë → AAB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749808" y="2560320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900" b="0">
                <a:solidFill>
                  <a:srgbClr val="F4F7FF"/>
                </a:solidFill>
                <a:latin typeface="Arial"/>
              </a:rPr>
              <a:t>08:00 · 2 vende · ID 1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548640" y="3163824"/>
            <a:ext cx="5029200" cy="10058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0" name="Editable shape 10"/>
          <p:cNvSpPr txBox="1"/>
          <p:nvPr/>
        </p:nvSpPr>
        <p:spPr>
          <a:xfrm>
            <a:off x="749808" y="3255264"/>
            <a:ext cx="462686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1">
                <a:solidFill>
                  <a:srgbClr val="83EFD9"/>
                </a:solidFill>
                <a:latin typeface="Arial"/>
              </a:rPr>
              <a:t>Fushë Kosovë → AAB</a:t>
            </a:r>
          </a:p>
        </p:txBody>
      </p:sp>
      <p:sp>
        <p:nvSpPr>
          <p:cNvPr id="11" name="Editable shape 11"/>
          <p:cNvSpPr txBox="1"/>
          <p:nvPr/>
        </p:nvSpPr>
        <p:spPr>
          <a:xfrm>
            <a:off x="749808" y="3712464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900" b="0">
                <a:solidFill>
                  <a:srgbClr val="F4F7FF"/>
                </a:solidFill>
                <a:latin typeface="Arial"/>
              </a:rPr>
              <a:t>08:15 · 1 vend · ID 2</a:t>
            </a:r>
          </a:p>
        </p:txBody>
      </p:sp>
      <p:sp>
        <p:nvSpPr>
          <p:cNvPr id="12" name="Editable shape 12"/>
          <p:cNvSpPr txBox="1"/>
          <p:nvPr/>
        </p:nvSpPr>
        <p:spPr>
          <a:xfrm>
            <a:off x="548640" y="4315968"/>
            <a:ext cx="5029200" cy="10058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3" name="Editable shape 13"/>
          <p:cNvSpPr txBox="1"/>
          <p:nvPr/>
        </p:nvSpPr>
        <p:spPr>
          <a:xfrm>
            <a:off x="749808" y="4407408"/>
            <a:ext cx="462686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1">
                <a:solidFill>
                  <a:srgbClr val="83EFD9"/>
                </a:solidFill>
                <a:latin typeface="Arial"/>
              </a:rPr>
              <a:t>Lipjan → AAB</a:t>
            </a:r>
          </a:p>
        </p:txBody>
      </p:sp>
      <p:sp>
        <p:nvSpPr>
          <p:cNvPr id="14" name="Editable shape 14"/>
          <p:cNvSpPr txBox="1"/>
          <p:nvPr/>
        </p:nvSpPr>
        <p:spPr>
          <a:xfrm>
            <a:off x="749808" y="486460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900" b="0">
                <a:solidFill>
                  <a:srgbClr val="F4F7FF"/>
                </a:solidFill>
                <a:latin typeface="Arial"/>
              </a:rPr>
              <a:t>07:45 · 0 vende · ID 3</a:t>
            </a:r>
          </a:p>
        </p:txBody>
      </p:sp>
      <p:sp>
        <p:nvSpPr>
          <p:cNvPr id="15" name="Editable shape 15"/>
          <p:cNvSpPr txBox="1"/>
          <p:nvPr/>
        </p:nvSpPr>
        <p:spPr>
          <a:xfrm>
            <a:off x="6126480" y="2057400"/>
            <a:ext cx="548640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Faqja është ekrani.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Ka adresën e vet dhe vendos cilat pjesë shfaqen.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Komponenti është modeli.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KartaUdhetimi përdoret tri herë, me të dhëna të ndryshme.</a:t>
            </a:r>
          </a:p>
        </p:txBody>
      </p:sp>
      <p:sp>
        <p:nvSpPr>
          <p:cNvPr id="16" name="Editable shape 16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7" name="Editable shape 17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F4F7FF"/>
                </a:solidFill>
                <a:latin typeface="Arial"/>
              </a:rPr>
              <a:t>Nëse zmadhojmë tekstin në komponent, të tri kartat bëhen më të lexueshme.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NDËRTOJMË RRUGËN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Ora e kartës duhet të jetë edhe ora e detajeve.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07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103120"/>
            <a:ext cx="6400800" cy="2743200"/>
          </a:xfrm>
          <a:prstGeom prst="rect">
            <a:avLst/>
          </a:prstGeom>
          <a:solidFill>
            <a:srgbClr val="091525"/>
          </a:solidFill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900" b="0">
                <a:solidFill>
                  <a:srgbClr val="83EFD9"/>
                </a:solidFill>
                <a:latin typeface="Courier New"/>
              </a:rPr>
              <a:t>const udhetimet = [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900" b="0">
                <a:solidFill>
                  <a:srgbClr val="83EFD9"/>
                </a:solidFill>
                <a:latin typeface="Courier New"/>
              </a:rPr>
              <a:t>  { id: "1", ora: "08:00", vende: 2 },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900" b="0">
                <a:solidFill>
                  <a:srgbClr val="83EFD9"/>
                </a:solidFill>
                <a:latin typeface="Courier New"/>
              </a:rPr>
              <a:t>  { id: "2", ora: "08:15", vende: 1 },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900" b="0">
                <a:solidFill>
                  <a:srgbClr val="83EFD9"/>
                </a:solidFill>
                <a:latin typeface="Courier New"/>
              </a:rPr>
              <a:t>  { id: "3", ora: "07:45", vende: 0 }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900" b="0">
                <a:solidFill>
                  <a:srgbClr val="83EFD9"/>
                </a:solidFill>
                <a:latin typeface="Courier New"/>
              </a:rPr>
              <a:t>];</a:t>
            </a:r>
          </a:p>
        </p:txBody>
      </p:sp>
      <p:sp>
        <p:nvSpPr>
          <p:cNvPr id="7" name="Editable shape 7"/>
          <p:cNvSpPr txBox="1"/>
          <p:nvPr/>
        </p:nvSpPr>
        <p:spPr>
          <a:xfrm>
            <a:off x="7315200" y="2103120"/>
            <a:ext cx="4297680" cy="274320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8" name="Editable shape 8"/>
          <p:cNvSpPr txBox="1"/>
          <p:nvPr/>
        </p:nvSpPr>
        <p:spPr>
          <a:xfrm>
            <a:off x="7516368" y="2267712"/>
            <a:ext cx="389534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OBJEKTI ME ID 2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7516368" y="2971800"/>
            <a:ext cx="3895344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08:15 te karta.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08:15 te detajet.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Dy pamje lexojnë të njëjtin burim.</a:t>
            </a:r>
          </a:p>
        </p:txBody>
      </p:sp>
      <p:sp>
        <p:nvSpPr>
          <p:cNvPr id="10" name="Editable shape 10"/>
          <p:cNvSpPr txBox="1"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800" b="0">
                <a:solidFill>
                  <a:srgbClr val="B9C8DB"/>
                </a:solidFill>
                <a:latin typeface="Arial"/>
              </a:rPr>
              <a:t>Fragment i thjeshtuar: objektet përmbajnë edhe nisjen dhe vendtakimin.</a:t>
            </a:r>
          </a:p>
        </p:txBody>
      </p:sp>
      <p:sp>
        <p:nvSpPr>
          <p:cNvPr id="11" name="Editable shape 11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2" name="Editable shape 12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F4F7FF"/>
                </a:solidFill>
                <a:latin typeface="Arial"/>
              </a:rPr>
              <a:t>Të dhënat janë fiktive në Javën 3. Në Javën 4 i lidhim me bazën e të dhënave.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NDËRTOJMË RRUGËN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Klikimi duhet të mbajë mend kartën 2.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08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0574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800" b="1">
                <a:solidFill>
                  <a:srgbClr val="83EFD9"/>
                </a:solidFill>
                <a:latin typeface="Arial"/>
              </a:rPr>
              <a:t>Karta 2 → “Shiko detajet” → /udhetimi/2</a:t>
            </a:r>
          </a:p>
        </p:txBody>
      </p:sp>
      <p:sp>
        <p:nvSpPr>
          <p:cNvPr id="7" name="Editable shape 7"/>
          <p:cNvSpPr txBox="1"/>
          <p:nvPr/>
        </p:nvSpPr>
        <p:spPr>
          <a:xfrm>
            <a:off x="548640" y="2834640"/>
            <a:ext cx="10972800" cy="1463040"/>
          </a:xfrm>
          <a:prstGeom prst="rect">
            <a:avLst/>
          </a:prstGeom>
          <a:solidFill>
            <a:srgbClr val="091525"/>
          </a:solidFill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83EFD9"/>
                </a:solidFill>
                <a:latin typeface="Courier New"/>
              </a:rPr>
              <a:t>&lt;Link href={`/udhetimi/${udhetim.id}`}&gt;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83EFD9"/>
                </a:solidFill>
                <a:latin typeface="Courier New"/>
              </a:rPr>
              <a:t>  Shiko detajet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83EFD9"/>
                </a:solidFill>
                <a:latin typeface="Courier New"/>
              </a:rPr>
              <a:t>&lt;/Link&gt;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548640" y="46177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200" b="0">
                <a:solidFill>
                  <a:srgbClr val="F4F7FF"/>
                </a:solidFill>
                <a:latin typeface="Arial"/>
              </a:rPr>
              <a:t>udhetim.id vjen nga karta që u prek.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200" b="0">
                <a:solidFill>
                  <a:srgbClr val="F4F7FF"/>
                </a:solidFill>
                <a:latin typeface="Arial"/>
              </a:rPr>
              <a:t>href tregon adresën që do të hapet.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0" name="Editable shape 10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900" b="0">
                <a:solidFill>
                  <a:srgbClr val="F4F7FF"/>
                </a:solidFill>
                <a:latin typeface="Arial"/>
              </a:rPr>
              <a:t>URL (Uniform Resource Locator – adresa e burimit) është si një adresë shtëpie: na çon te vendi i saktë.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NDËRTOJMË RRUGËN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Një dosje [id] hap shumë udhëtime.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09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103120"/>
            <a:ext cx="10972800" cy="685800"/>
          </a:xfrm>
          <a:prstGeom prst="rect">
            <a:avLst/>
          </a:prstGeom>
          <a:solidFill>
            <a:srgbClr val="091525"/>
          </a:solidFill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83EFD9"/>
                </a:solidFill>
                <a:latin typeface="Courier New"/>
              </a:rPr>
              <a:t>src/app/page.tsx → /</a:t>
            </a:r>
          </a:p>
        </p:txBody>
      </p:sp>
      <p:sp>
        <p:nvSpPr>
          <p:cNvPr id="7" name="Editable shape 7"/>
          <p:cNvSpPr txBox="1"/>
          <p:nvPr/>
        </p:nvSpPr>
        <p:spPr>
          <a:xfrm>
            <a:off x="548640" y="2907792"/>
            <a:ext cx="10972800" cy="685800"/>
          </a:xfrm>
          <a:prstGeom prst="rect">
            <a:avLst/>
          </a:prstGeom>
          <a:solidFill>
            <a:srgbClr val="091525"/>
          </a:solidFill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83EFD9"/>
                </a:solidFill>
                <a:latin typeface="Courier New"/>
              </a:rPr>
              <a:t>src/app/udhetimi/[id]/page.tsx → /udhetimi/2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548640" y="3712464"/>
            <a:ext cx="10972800" cy="685800"/>
          </a:xfrm>
          <a:prstGeom prst="rect">
            <a:avLst/>
          </a:prstGeom>
          <a:solidFill>
            <a:srgbClr val="091525"/>
          </a:solidFill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83EFD9"/>
                </a:solidFill>
                <a:latin typeface="Courier New"/>
              </a:rPr>
              <a:t>src/app/udhetimi/[id]/kerkesa/page.tsx → /udhetimi/2/kerkesa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548640" y="4709160"/>
            <a:ext cx="109728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300" b="0">
                <a:solidFill>
                  <a:srgbClr val="F4F7FF"/>
                </a:solidFill>
                <a:latin typeface="Arial"/>
              </a:rPr>
              <a:t>[id] ndryshon: 1, 2, 3… App Router i Next.js lidh dosjet me adresat. I njëjti skedar hap udhëtimin e kërkuar.</a:t>
            </a:r>
          </a:p>
        </p:txBody>
      </p:sp>
      <p:sp>
        <p:nvSpPr>
          <p:cNvPr id="10" name="Editable shape 10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1" name="Editable shape 11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F4F7FF"/>
                </a:solidFill>
                <a:latin typeface="Arial"/>
              </a:rPr>
              <a:t>Edhe po të kishim 100 udhëtime, nuk do të krijonim 100 faqe detajesh.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NDËRTOJMË RRUGËN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Faqja pyet: “Cilin udhëtim kërkove?”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10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19659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700" b="1">
                <a:solidFill>
                  <a:srgbClr val="83EFD9"/>
                </a:solidFill>
                <a:latin typeface="Arial"/>
              </a:rPr>
              <a:t>/udhetimi/2 → id = "2" → Objekti me ID 2</a:t>
            </a:r>
          </a:p>
        </p:txBody>
      </p:sp>
      <p:sp>
        <p:nvSpPr>
          <p:cNvPr id="7" name="Editable shape 7"/>
          <p:cNvSpPr txBox="1"/>
          <p:nvPr/>
        </p:nvSpPr>
        <p:spPr>
          <a:xfrm>
            <a:off x="548640" y="27432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83EFD9"/>
                </a:solidFill>
                <a:latin typeface="Courier New"/>
              </a:rPr>
              <a:t>const { id } = await params;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548640" y="32461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200" b="0">
                <a:solidFill>
                  <a:srgbClr val="F4F7FF"/>
                </a:solidFill>
                <a:latin typeface="Arial"/>
              </a:rPr>
              <a:t>1. Lexo adresën. Marrim numrin e udhëtimit nga params . Në Next.js 16 e presim me await .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548640" y="4114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83EFD9"/>
                </a:solidFill>
                <a:latin typeface="Courier New"/>
              </a:rPr>
              <a:t>const udhetim = udhetimet.find((u) =&gt; u.id === id);</a:t>
            </a:r>
          </a:p>
        </p:txBody>
      </p:sp>
      <p:sp>
        <p:nvSpPr>
          <p:cNvPr id="10" name="Editable shape 10"/>
          <p:cNvSpPr txBox="1"/>
          <p:nvPr/>
        </p:nvSpPr>
        <p:spPr>
          <a:xfrm>
            <a:off x="548640" y="46177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200" b="0">
                <a:solidFill>
                  <a:srgbClr val="F4F7FF"/>
                </a:solidFill>
                <a:latin typeface="Arial"/>
              </a:rPr>
              <a:t>2. Gjej përputhjen. find kërkon në listë objektin që ka po atë ID.</a:t>
            </a:r>
          </a:p>
        </p:txBody>
      </p:sp>
      <p:sp>
        <p:nvSpPr>
          <p:cNvPr id="11" name="Editable shape 11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2" name="Editable shape 12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F4F7FF"/>
                </a:solidFill>
                <a:latin typeface="Arial"/>
              </a:rPr>
              <a:t>Nuk marrim “kartën e dytë” sipas renditjes. Kërkojmë identitetin "2" .</a:t>
            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KUR RRUGA NUK ËSHTË E LUMTUR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Po nëse dikush shkruan /udhetimi/99?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11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103120"/>
            <a:ext cx="5394960" cy="210312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7" name="Editable shape 7"/>
          <p:cNvSpPr txBox="1"/>
          <p:nvPr/>
        </p:nvSpPr>
        <p:spPr>
          <a:xfrm>
            <a:off x="749808" y="2267712"/>
            <a:ext cx="499262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ID 2 ekziston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749808" y="2971800"/>
            <a:ext cx="4992624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Shfaq detajet e udhëtimit 2.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6217920" y="2103120"/>
            <a:ext cx="5394960" cy="210312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0" name="Editable shape 10"/>
          <p:cNvSpPr txBox="1"/>
          <p:nvPr/>
        </p:nvSpPr>
        <p:spPr>
          <a:xfrm>
            <a:off x="6419088" y="2267712"/>
            <a:ext cx="499262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ID 99 mungon</a:t>
            </a:r>
          </a:p>
        </p:txBody>
      </p:sp>
      <p:sp>
        <p:nvSpPr>
          <p:cNvPr id="11" name="Editable shape 11"/>
          <p:cNvSpPr txBox="1"/>
          <p:nvPr/>
        </p:nvSpPr>
        <p:spPr>
          <a:xfrm>
            <a:off x="6419088" y="2971800"/>
            <a:ext cx="4992624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Shfaq udhëtimin 1? Ekran bosh? Apo përgjigje të qartë?</a:t>
            </a:r>
          </a:p>
        </p:txBody>
      </p:sp>
      <p:sp>
        <p:nvSpPr>
          <p:cNvPr id="12" name="Editable shape 12"/>
          <p:cNvSpPr txBox="1"/>
          <p:nvPr/>
        </p:nvSpPr>
        <p:spPr>
          <a:xfrm>
            <a:off x="548640" y="45262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83EFD9"/>
                </a:solidFill>
                <a:latin typeface="Courier New"/>
              </a:rPr>
              <a:t>if (!udhetim) notFound();</a:t>
            </a:r>
          </a:p>
        </p:txBody>
      </p:sp>
      <p:sp>
        <p:nvSpPr>
          <p:cNvPr id="13" name="Editable shape 13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4" name="Editable shape 14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F4F7FF"/>
                </a:solidFill>
                <a:latin typeface="Arial"/>
              </a:rPr>
              <a:t>404 · Udhëtimi nuk u gjet. Shpjegojmë çfarë mungon dhe ofrojmë “Kthehu te lista”. Nuk shfaqim të dhënat e dikujt tjetër.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KUR RRUGA NUK ËSHTË E LUMTUR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Një buton është një premtim.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12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103120"/>
            <a:ext cx="4480560" cy="32918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7" name="Editable shape 7"/>
          <p:cNvSpPr txBox="1"/>
          <p:nvPr/>
        </p:nvSpPr>
        <p:spPr>
          <a:xfrm>
            <a:off x="749808" y="2267712"/>
            <a:ext cx="407822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ID 3 · LIPJAN → AAB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749808" y="2971800"/>
            <a:ext cx="4078224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07:45 · 0 vende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“Nuk ka vende të lira”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Butoni është i çaktivizuar. Detajet mund të lexohen.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5760720" y="2103120"/>
            <a:ext cx="576072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600" b="0">
                <a:solidFill>
                  <a:srgbClr val="F4F7FF"/>
                </a:solidFill>
                <a:latin typeface="Arial"/>
              </a:rPr>
              <a:t>Nëse nuk ka vend, nuk ofrojmë “Kërko vend”.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600" b="0">
                <a:solidFill>
                  <a:srgbClr val="F4F7FF"/>
                </a:solidFill>
                <a:latin typeface="Arial"/>
              </a:rPr>
              <a:t>Butoni dhe shpjegimi tregojnë pse veprimi nuk mund të kryhet.</a:t>
            </a:r>
          </a:p>
        </p:txBody>
      </p:sp>
      <p:sp>
        <p:nvSpPr>
          <p:cNvPr id="10" name="Editable shape 10"/>
          <p:cNvSpPr txBox="1"/>
          <p:nvPr/>
        </p:nvSpPr>
        <p:spPr>
          <a:xfrm>
            <a:off x="5760720" y="4480560"/>
            <a:ext cx="5760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200" b="0">
                <a:solidFill>
                  <a:srgbClr val="FFA58E"/>
                </a:solidFill>
                <a:latin typeface="Arial"/>
              </a:rPr>
              <a:t>Çfarë do të mendonit për një aplikacion që premton një vend që nuk ekziston?</a:t>
            </a:r>
          </a:p>
        </p:txBody>
      </p:sp>
      <p:sp>
        <p:nvSpPr>
          <p:cNvPr id="11" name="Editable shape 11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2" name="Editable shape 12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Kontrollojmë kushtin vende &gt; 0 përpara se të ofrojmë veprimin.</a:t>
            </a:r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KUFIRI I JAVËS 3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“Në pritje” nuk do të thotë “Vendi u rezervua”.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13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103120"/>
            <a:ext cx="5394960" cy="333756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7" name="Editable shape 7"/>
          <p:cNvSpPr txBox="1"/>
          <p:nvPr/>
        </p:nvSpPr>
        <p:spPr>
          <a:xfrm>
            <a:off x="749808" y="2267712"/>
            <a:ext cx="499262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SOT · JAVA 3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749808" y="2971800"/>
            <a:ext cx="4992624" cy="2331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F4F7FF"/>
                </a:solidFill>
                <a:latin typeface="Arial"/>
              </a:rPr>
              <a:t>Simulim: Në pritje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F4F7FF"/>
                </a:solidFill>
                <a:latin typeface="Arial"/>
              </a:rPr>
              <a:t>Hapet ekrani pas klikimit. Nuk ruhet kërkesë. Shoferi nuk merr njoftim.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6217920" y="2103120"/>
            <a:ext cx="5394960" cy="333756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0" name="Editable shape 10"/>
          <p:cNvSpPr txBox="1"/>
          <p:nvPr/>
        </p:nvSpPr>
        <p:spPr>
          <a:xfrm>
            <a:off x="6419088" y="2267712"/>
            <a:ext cx="499262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NË JAVËT NË VIJIM</a:t>
            </a:r>
          </a:p>
        </p:txBody>
      </p:sp>
      <p:sp>
        <p:nvSpPr>
          <p:cNvPr id="11" name="Editable shape 11"/>
          <p:cNvSpPr txBox="1"/>
          <p:nvPr/>
        </p:nvSpPr>
        <p:spPr>
          <a:xfrm>
            <a:off x="6419088" y="2971800"/>
            <a:ext cx="4992624" cy="2331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F4F7FF"/>
                </a:solidFill>
                <a:latin typeface="Arial"/>
              </a:rPr>
              <a:t>Kërkesë e ruajtur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F4F7FF"/>
                </a:solidFill>
                <a:latin typeface="Arial"/>
              </a:rPr>
              <a:t>Ruhet në bazë. Shoferi mund të përgjigjet. Statusi përditësohet.</a:t>
            </a:r>
          </a:p>
        </p:txBody>
      </p:sp>
      <p:sp>
        <p:nvSpPr>
          <p:cNvPr id="12" name="Editable shape 12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3" name="Editable shape 13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Sot provojmë navigimin dhe kuptimin e ekranit. Rezervimi real kërkon hapa të tjerë.</a:t>
            </a:r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TANI E PROVON KLASA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20 sekonda: ndiqe zgjedhjen e Artës.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14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19659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Arta zgjodhi kartën 2 dhe tani prek “Kërko vend”.</a:t>
            </a:r>
          </a:p>
        </p:txBody>
      </p:sp>
      <p:sp>
        <p:nvSpPr>
          <p:cNvPr id="7" name="Editable shape 7"/>
          <p:cNvSpPr txBox="1"/>
          <p:nvPr/>
        </p:nvSpPr>
        <p:spPr>
          <a:xfrm>
            <a:off x="548640" y="2743200"/>
            <a:ext cx="10972800" cy="594360"/>
          </a:xfrm>
          <a:prstGeom prst="rect">
            <a:avLst/>
          </a:prstGeom>
          <a:solidFill>
            <a:srgbClr val="172C42"/>
          </a:solidFill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700" b="0">
                <a:solidFill>
                  <a:srgbClr val="83EFD9"/>
                </a:solidFill>
                <a:latin typeface="Courier New"/>
              </a:rPr>
              <a:t>A /udhetimi/1/kerkesa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548640" y="3474720"/>
            <a:ext cx="10972800" cy="594360"/>
          </a:xfrm>
          <a:prstGeom prst="rect">
            <a:avLst/>
          </a:prstGeom>
          <a:solidFill>
            <a:srgbClr val="172C42"/>
          </a:solidFill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700" b="0">
                <a:solidFill>
                  <a:srgbClr val="83EFD9"/>
                </a:solidFill>
                <a:latin typeface="Courier New"/>
              </a:rPr>
              <a:t>B /udhetimi/2/kerkesa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548640" y="4206240"/>
            <a:ext cx="10972800" cy="594360"/>
          </a:xfrm>
          <a:prstGeom prst="rect">
            <a:avLst/>
          </a:prstGeom>
          <a:solidFill>
            <a:srgbClr val="172C42"/>
          </a:solidFill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700" b="0">
                <a:solidFill>
                  <a:srgbClr val="83EFD9"/>
                </a:solidFill>
                <a:latin typeface="Courier New"/>
              </a:rPr>
              <a:t>C /kerkesa</a:t>
            </a:r>
          </a:p>
        </p:txBody>
      </p:sp>
      <p:sp>
        <p:nvSpPr>
          <p:cNvPr id="10" name="Editable shape 10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FA58E"/>
                </a:solidFill>
                <a:latin typeface="Arial"/>
              </a:rPr>
              <a:t>Cila adresë e ruan zgjedhjen? Shpjegoja personit pranë teje.</a:t>
            </a:r>
          </a:p>
        </p:txBody>
      </p:sp>
      <p:sp>
        <p:nvSpPr>
          <p:cNvPr id="11" name="Editable shape 11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2" name="Editable shape 12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B. ID 2 mbetet në adresë. Pa të, nuk dimë për cilin udhëtim po bëhet kërkesa.</a:t>
            </a:r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12 MINUTA · DEMONSTRIMI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Tani parashikojmë. Pastaj klikojmë.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15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103120"/>
            <a:ext cx="2606040" cy="256032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7" name="Editable shape 7"/>
          <p:cNvSpPr txBox="1"/>
          <p:nvPr/>
        </p:nvSpPr>
        <p:spPr>
          <a:xfrm>
            <a:off x="749808" y="2267712"/>
            <a:ext cx="220370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Karta 2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749808" y="2971800"/>
            <a:ext cx="2203704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A hap detajet e Fushë Kosovës?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3383280" y="2103120"/>
            <a:ext cx="2606040" cy="256032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0" name="Editable shape 10"/>
          <p:cNvSpPr txBox="1"/>
          <p:nvPr/>
        </p:nvSpPr>
        <p:spPr>
          <a:xfrm>
            <a:off x="3584448" y="2267712"/>
            <a:ext cx="220370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Kërko vend</a:t>
            </a:r>
          </a:p>
        </p:txBody>
      </p:sp>
      <p:sp>
        <p:nvSpPr>
          <p:cNvPr id="11" name="Editable shape 11"/>
          <p:cNvSpPr txBox="1"/>
          <p:nvPr/>
        </p:nvSpPr>
        <p:spPr>
          <a:xfrm>
            <a:off x="3584448" y="2971800"/>
            <a:ext cx="2203704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A e thotë qartë që është simulim?</a:t>
            </a:r>
          </a:p>
        </p:txBody>
      </p:sp>
      <p:sp>
        <p:nvSpPr>
          <p:cNvPr id="12" name="Editable shape 12"/>
          <p:cNvSpPr txBox="1"/>
          <p:nvPr/>
        </p:nvSpPr>
        <p:spPr>
          <a:xfrm>
            <a:off x="6217920" y="2103120"/>
            <a:ext cx="2606040" cy="256032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3" name="Editable shape 13"/>
          <p:cNvSpPr txBox="1"/>
          <p:nvPr/>
        </p:nvSpPr>
        <p:spPr>
          <a:xfrm>
            <a:off x="6419088" y="2267712"/>
            <a:ext cx="220370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Zero vende</a:t>
            </a:r>
          </a:p>
        </p:txBody>
      </p:sp>
      <p:sp>
        <p:nvSpPr>
          <p:cNvPr id="14" name="Editable shape 14"/>
          <p:cNvSpPr txBox="1"/>
          <p:nvPr/>
        </p:nvSpPr>
        <p:spPr>
          <a:xfrm>
            <a:off x="6419088" y="2971800"/>
            <a:ext cx="2203704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A ndalet veprimi me shpjegim?</a:t>
            </a:r>
          </a:p>
        </p:txBody>
      </p:sp>
      <p:sp>
        <p:nvSpPr>
          <p:cNvPr id="15" name="Editable shape 15"/>
          <p:cNvSpPr txBox="1"/>
          <p:nvPr/>
        </p:nvSpPr>
        <p:spPr>
          <a:xfrm>
            <a:off x="9052560" y="2103120"/>
            <a:ext cx="2606040" cy="256032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6" name="Editable shape 16"/>
          <p:cNvSpPr txBox="1"/>
          <p:nvPr/>
        </p:nvSpPr>
        <p:spPr>
          <a:xfrm>
            <a:off x="9253728" y="2267712"/>
            <a:ext cx="220370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ID 99</a:t>
            </a:r>
          </a:p>
        </p:txBody>
      </p:sp>
      <p:sp>
        <p:nvSpPr>
          <p:cNvPr id="17" name="Editable shape 17"/>
          <p:cNvSpPr txBox="1"/>
          <p:nvPr/>
        </p:nvSpPr>
        <p:spPr>
          <a:xfrm>
            <a:off x="9253728" y="2971800"/>
            <a:ext cx="2203704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100" b="0">
                <a:solidFill>
                  <a:srgbClr val="F4F7FF"/>
                </a:solidFill>
                <a:latin typeface="Arial"/>
              </a:rPr>
              <a:t>A na ndihmon të kthehemi?</a:t>
            </a:r>
          </a:p>
        </p:txBody>
      </p:sp>
      <p:sp>
        <p:nvSpPr>
          <p:cNvPr id="18" name="Editable shape 18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FA58E"/>
                </a:solidFill>
                <a:latin typeface="Arial"/>
              </a:rPr>
              <a:t>Para çdo klikimi: çfarë prisni të ndodhë dhe pse?</a:t>
            </a:r>
          </a:p>
        </p:txBody>
      </p:sp>
      <p:sp>
        <p:nvSpPr>
          <p:cNvPr id="19" name="Editable shape 19"/>
          <p:cNvSpPr txBox="1"/>
          <p:nvPr/>
        </p:nvSpPr>
        <p:spPr>
          <a:xfrm>
            <a:off x="548640" y="553212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300" b="1">
                <a:solidFill>
                  <a:srgbClr val="83EFD9"/>
                </a:solidFill>
                <a:latin typeface="Arial"/>
                <a:hlinkClick r:id="rIdLink1"/>
              </a:rPr>
              <a:t>Hap demonstrimin e Javës 3 →</a:t>
            </a:r>
          </a:p>
        </p:txBody>
      </p:sp>
      <p:sp>
        <p:nvSpPr>
          <p:cNvPr id="20" name="Editable shape 20"/>
          <p:cNvSpPr txBox="1"/>
          <p:nvPr/>
        </p:nvSpPr>
        <p:spPr>
          <a:xfrm>
            <a:off x="548640" y="60807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800" b="0">
                <a:solidFill>
                  <a:srgbClr val="B9C8DB"/>
                </a:solidFill>
                <a:latin typeface="Arial"/>
              </a:rPr>
              <a:t>Demonstrimi vizual përdor adresa të simuluara. Në ushtrime i ndërtojmë me App Router të Next.js.</a:t>
            </a:r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PROVOJE SI PËRDORUES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Prova e vërtetë e lexueshmërisë: telefoni.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16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103120"/>
            <a:ext cx="4114800" cy="356616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7" name="Editable shape 7"/>
          <p:cNvSpPr txBox="1"/>
          <p:nvPr/>
        </p:nvSpPr>
        <p:spPr>
          <a:xfrm>
            <a:off x="749808" y="2267712"/>
            <a:ext cx="371246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FUSHË KOSOVË → AAB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749808" y="2971800"/>
            <a:ext cx="3712464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F4F7FF"/>
                </a:solidFill>
                <a:latin typeface="Arial"/>
              </a:rPr>
              <a:t>08:15 · 1 vend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F4F7FF"/>
                </a:solidFill>
                <a:latin typeface="Arial"/>
              </a:rPr>
              <a:t>Te stacioni kryesor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F4F7FF"/>
                </a:solidFill>
                <a:latin typeface="Arial"/>
              </a:rPr>
              <a:t>Kërko vend →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500" b="0">
                <a:solidFill>
                  <a:srgbClr val="F4F7FF"/>
                </a:solidFill>
                <a:latin typeface="Arial"/>
              </a:rPr>
              <a:t>← Kthehu te lista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5303520" y="2103120"/>
            <a:ext cx="6309360" cy="3566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300" b="0">
                <a:solidFill>
                  <a:srgbClr val="F4F7FF"/>
                </a:solidFill>
                <a:latin typeface="Arial"/>
              </a:rPr>
              <a:t>01 · Lexo. Teksti kuptohet pa zmadhim dhe pa lëvizje horizontale.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300" b="0">
                <a:solidFill>
                  <a:srgbClr val="F4F7FF"/>
                </a:solidFill>
                <a:latin typeface="Arial"/>
              </a:rPr>
              <a:t>02 · Prek. Veprimi kryesor dallohet dhe hap udhëtimin e duhur.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300" b="0">
                <a:solidFill>
                  <a:srgbClr val="F4F7FF"/>
                </a:solidFill>
                <a:latin typeface="Arial"/>
              </a:rPr>
              <a:t>03 · Kthehu. “Kthehu te lista” e rikthen Artën te zgjedhjet.</a:t>
            </a:r>
          </a:p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300" b="0">
                <a:solidFill>
                  <a:srgbClr val="F4F7FF"/>
                </a:solidFill>
                <a:latin typeface="Arial"/>
              </a:rPr>
              <a:t>Pse ka rëndësi kthimi? Arta mund të ndryshojë mendim.</a:t>
            </a:r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NGA KUPTIMI TE PUNA JUAJ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Punë që mund ta mbyllni brenda ushtrimeve.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17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057400"/>
            <a:ext cx="3474720" cy="1920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7" name="Editable shape 7"/>
          <p:cNvSpPr txBox="1"/>
          <p:nvPr/>
        </p:nvSpPr>
        <p:spPr>
          <a:xfrm>
            <a:off x="749808" y="2221992"/>
            <a:ext cx="307238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3 faqe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749808" y="2926080"/>
            <a:ext cx="3072384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F4F7FF"/>
                </a:solidFill>
                <a:latin typeface="Arial"/>
              </a:rPr>
              <a:t>Lista · Detajet · Simulimi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4343400" y="2057400"/>
            <a:ext cx="3474720" cy="1920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0" name="Editable shape 10"/>
          <p:cNvSpPr txBox="1"/>
          <p:nvPr/>
        </p:nvSpPr>
        <p:spPr>
          <a:xfrm>
            <a:off x="4544568" y="2221992"/>
            <a:ext cx="307238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1 komponent</a:t>
            </a:r>
          </a:p>
        </p:txBody>
      </p:sp>
      <p:sp>
        <p:nvSpPr>
          <p:cNvPr id="11" name="Editable shape 11"/>
          <p:cNvSpPr txBox="1"/>
          <p:nvPr/>
        </p:nvSpPr>
        <p:spPr>
          <a:xfrm>
            <a:off x="4544568" y="2926080"/>
            <a:ext cx="3072384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F4F7FF"/>
                </a:solidFill>
                <a:latin typeface="Arial"/>
              </a:rPr>
              <a:t>I ripërdorur për tri udhëtime</a:t>
            </a:r>
          </a:p>
        </p:txBody>
      </p:sp>
      <p:sp>
        <p:nvSpPr>
          <p:cNvPr id="12" name="Editable shape 12"/>
          <p:cNvSpPr txBox="1"/>
          <p:nvPr/>
        </p:nvSpPr>
        <p:spPr>
          <a:xfrm>
            <a:off x="8138160" y="2057400"/>
            <a:ext cx="3474720" cy="1920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3" name="Editable shape 13"/>
          <p:cNvSpPr txBox="1"/>
          <p:nvPr/>
        </p:nvSpPr>
        <p:spPr>
          <a:xfrm>
            <a:off x="8339328" y="2221992"/>
            <a:ext cx="307238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1">
                <a:solidFill>
                  <a:srgbClr val="83EFD9"/>
                </a:solidFill>
                <a:latin typeface="Arial"/>
              </a:rPr>
              <a:t>3 prova</a:t>
            </a:r>
          </a:p>
        </p:txBody>
      </p:sp>
      <p:sp>
        <p:nvSpPr>
          <p:cNvPr id="14" name="Editable shape 14"/>
          <p:cNvSpPr txBox="1"/>
          <p:nvPr/>
        </p:nvSpPr>
        <p:spPr>
          <a:xfrm>
            <a:off x="8339328" y="2926080"/>
            <a:ext cx="3072384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F4F7FF"/>
                </a:solidFill>
                <a:latin typeface="Arial"/>
              </a:rPr>
              <a:t>ID 2 · zero vende · ID 99</a:t>
            </a:r>
          </a:p>
        </p:txBody>
      </p:sp>
      <p:sp>
        <p:nvSpPr>
          <p:cNvPr id="15" name="Editable shape 15"/>
          <p:cNvSpPr txBox="1"/>
          <p:nvPr/>
        </p:nvSpPr>
        <p:spPr>
          <a:xfrm>
            <a:off x="548640" y="429768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4F7FF"/>
                </a:solidFill>
                <a:latin typeface="Arial"/>
              </a:rPr>
              <a:t>Plotësoni java-03.md, dorëzoni në GitHub dhe lexoni raportin. Mbajmë kohë për korrigjime deri në fund të orës.</a:t>
            </a:r>
          </a:p>
        </p:txBody>
      </p:sp>
      <p:sp>
        <p:nvSpPr>
          <p:cNvPr id="16" name="Editable shape 16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7" name="Editable shape 17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F4F7FF"/>
                </a:solidFill>
                <a:latin typeface="Arial"/>
              </a:rPr>
              <a:t>G1: lidhni këto sqarime me punën e bërë në 14:45. G2: i zbatoni hap pas hapi në ushtrimet e 18:15.</a:t>
            </a:r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100" b="1">
                <a:solidFill>
                  <a:srgbClr val="83EFD9"/>
                </a:solidFill>
                <a:latin typeface="Arial"/>
              </a:rPr>
              <a:t>NGA NJË SKICË TE NJË AFTËSI</a:t>
            </a:r>
          </a:p>
        </p:txBody>
      </p:sp>
      <p:pic>
        <p:nvPicPr>
          <p:cNvPr id="3" name="Kolegji AAB"/>
          <p:cNvPicPr/>
          <p:nvPr/>
        </p:nvPicPr>
        <p:blipFill>
          <a:blip r:embed="rIdLogo"/>
          <a:stretch>
            <a:fillRect/>
          </a:stretch>
        </p:blipFill>
        <p:spPr>
          <a:xfrm>
            <a:off x="9784080" y="228600"/>
            <a:ext cx="1737360" cy="343814"/>
          </a:xfrm>
          <a:prstGeom prst="rect">
            <a:avLst/>
          </a:prstGeom>
        </p:spPr>
      </p:pic>
      <p:sp>
        <p:nvSpPr>
          <p:cNvPr id="4" name="Editable shape 4"/>
          <p:cNvSpPr txBox="1"/>
          <p:nvPr/>
        </p:nvSpPr>
        <p:spPr>
          <a:xfrm>
            <a:off x="548640" y="841248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3400" b="1">
                <a:solidFill>
                  <a:srgbClr val="F4F7FF"/>
                </a:solidFill>
                <a:latin typeface="Arial"/>
              </a:rPr>
              <a:t>Një prekje. Tani e dini çfarë fshihet pas saj.</a:t>
            </a:r>
          </a:p>
        </p:txBody>
      </p:sp>
      <p:sp>
        <p:nvSpPr>
          <p:cNvPr id="5" name="Editable shape 5"/>
          <p:cNvSpPr txBox="1"/>
          <p:nvPr/>
        </p:nvSpPr>
        <p:spPr>
          <a:xfrm>
            <a:off x="11155680" y="66294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1000" b="0">
                <a:solidFill>
                  <a:srgbClr val="B9C8DB"/>
                </a:solidFill>
                <a:latin typeface="Arial"/>
              </a:rPr>
              <a:t>18 / 18</a:t>
            </a:r>
          </a:p>
        </p:txBody>
      </p:sp>
      <p:sp>
        <p:nvSpPr>
          <p:cNvPr id="6" name="Editable shape 6"/>
          <p:cNvSpPr txBox="1"/>
          <p:nvPr/>
        </p:nvSpPr>
        <p:spPr>
          <a:xfrm>
            <a:off x="548640" y="21488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700" b="1">
                <a:solidFill>
                  <a:srgbClr val="83EFD9"/>
                </a:solidFill>
                <a:latin typeface="Arial"/>
              </a:rPr>
              <a:t>Problemi → Skica → Karta → Adresa → Përgjigjja</a:t>
            </a:r>
          </a:p>
        </p:txBody>
      </p:sp>
      <p:sp>
        <p:nvSpPr>
          <p:cNvPr id="7" name="Editable shape 7"/>
          <p:cNvSpPr txBox="1"/>
          <p:nvPr/>
        </p:nvSpPr>
        <p:spPr>
          <a:xfrm>
            <a:off x="548640" y="29718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900" b="1">
                <a:solidFill>
                  <a:srgbClr val="F4F7FF"/>
                </a:solidFill>
                <a:latin typeface="Arial"/>
              </a:rPr>
              <a:t>Arta nuk mendon për komponentët. Ajo kupton ku të klikojë dhe çfarë ndodh.</a:t>
            </a:r>
          </a:p>
        </p:txBody>
      </p:sp>
      <p:sp>
        <p:nvSpPr>
          <p:cNvPr id="8" name="Editable shape 8"/>
          <p:cNvSpPr txBox="1"/>
          <p:nvPr/>
        </p:nvSpPr>
        <p:spPr>
          <a:xfrm>
            <a:off x="548640" y="42519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600" b="0">
                <a:solidFill>
                  <a:srgbClr val="F4F7FF"/>
                </a:solidFill>
                <a:latin typeface="Arial"/>
              </a:rPr>
              <a:t>Ju tashmë mund ta shpjegoni dhe ta ndërtoni këtë rrugë.</a:t>
            </a:r>
          </a:p>
        </p:txBody>
      </p:sp>
      <p:sp>
        <p:nvSpPr>
          <p:cNvPr id="9" name="Editable shape 9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400" b="0">
                <a:solidFill>
                  <a:srgbClr val="FFA58E"/>
                </a:solidFill>
                <a:latin typeface="Arial"/>
              </a:rPr>
              <a:t>Çfarë i jep kuptim numrit 2 në adresë?</a:t>
            </a:r>
          </a:p>
        </p:txBody>
      </p:sp>
      <p:sp>
        <p:nvSpPr>
          <p:cNvPr id="10" name="Editable shape 10"/>
          <p:cNvSpPr txBox="1"/>
          <p:nvPr/>
        </p:nvSpPr>
        <p:spPr>
          <a:xfrm>
            <a:off x="548640" y="5760720"/>
            <a:ext cx="11091672" cy="777240"/>
          </a:xfrm>
          <a:prstGeom prst="rect">
            <a:avLst/>
          </a:prstGeom>
          <a:solidFill>
            <a:srgbClr val="172C42"/>
          </a:solidFill>
          <a:ln>
            <a:noFill/>
          </a:ln>
        </p:spPr>
      </p:sp>
      <p:sp>
        <p:nvSpPr>
          <p:cNvPr id="11" name="Editable shape 11"/>
          <p:cNvSpPr txBox="1"/>
          <p:nvPr/>
        </p:nvSpPr>
        <p:spPr>
          <a:xfrm>
            <a:off x="731520" y="5879592"/>
            <a:ext cx="107259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  <a:lnSpc>
                <a:spcPct val="115000"/>
              </a:lnSpc>
              <a:spcAft>
                <a:spcPts val="600"/>
              </a:spcAft>
            </a:pPr>
            <a:r>
              <a:rPr lang="sq-AL" sz="2000" b="0">
                <a:solidFill>
                  <a:srgbClr val="F4F7FF"/>
                </a:solidFill>
                <a:latin typeface="Arial"/>
              </a:rPr>
              <a:t>RideShare është shembulli ynë i përbashkët në ushtrime. Projekti juaj përfundimtar i shërben një biznesi real.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2026-09-30T20:54:12Z</dcterms:created>
  <dcterms:modified xsi:type="dcterms:W3CDTF">2026-09-30T20:54:12Z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